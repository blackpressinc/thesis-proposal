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9"/>
  </p:notesMasterIdLst>
  <p:handoutMasterIdLst>
    <p:handoutMasterId r:id="rId10"/>
  </p:handout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</p:sldIdLst>
  <p:sldSz cx="9144000" cy="6858000" type="screen4x3"/>
  <p:notesSz cx="68580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DC348F9D-DB2E-4951-A823-25C753DA068C}">
          <p14:sldIdLst>
            <p14:sldId id="256"/>
            <p14:sldId id="257"/>
            <p14:sldId id="258"/>
            <p14:sldId id="260"/>
            <p14:sldId id="259"/>
            <p14:sldId id="261"/>
            <p14:sldId id="26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1AAFF"/>
    <a:srgbClr val="007EFF"/>
    <a:srgbClr val="007F80"/>
    <a:srgbClr val="006400"/>
    <a:srgbClr val="BF5700"/>
    <a:srgbClr val="7A9753"/>
    <a:srgbClr val="FF9900"/>
    <a:srgbClr val="00EE00"/>
    <a:srgbClr val="B45700"/>
    <a:srgbClr val="CF6B2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51" autoAdjust="0"/>
    <p:restoredTop sz="96305" autoAdjust="0"/>
  </p:normalViewPr>
  <p:slideViewPr>
    <p:cSldViewPr snapToGrid="0">
      <p:cViewPr varScale="1">
        <p:scale>
          <a:sx n="122" d="100"/>
          <a:sy n="122" d="100"/>
        </p:scale>
        <p:origin x="1512" y="90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71800" cy="464820"/>
          </a:xfrm>
          <a:prstGeom prst="rect">
            <a:avLst/>
          </a:prstGeom>
        </p:spPr>
        <p:txBody>
          <a:bodyPr vert="horz" lIns="92757" tIns="46378" rIns="92757" bIns="46378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1"/>
            <a:ext cx="2971800" cy="464820"/>
          </a:xfrm>
          <a:prstGeom prst="rect">
            <a:avLst/>
          </a:prstGeom>
        </p:spPr>
        <p:txBody>
          <a:bodyPr vert="horz" lIns="92757" tIns="46378" rIns="92757" bIns="46378" rtlCol="0"/>
          <a:lstStyle>
            <a:lvl1pPr algn="r">
              <a:defRPr sz="1200"/>
            </a:lvl1pPr>
          </a:lstStyle>
          <a:p>
            <a:fld id="{C84A0F8A-07E4-4267-AC20-AFC3C0994470}" type="datetimeFigureOut">
              <a:rPr lang="en-US" smtClean="0"/>
              <a:t>12/13/2018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8"/>
            <a:ext cx="2971800" cy="464820"/>
          </a:xfrm>
          <a:prstGeom prst="rect">
            <a:avLst/>
          </a:prstGeom>
        </p:spPr>
        <p:txBody>
          <a:bodyPr vert="horz" lIns="92757" tIns="46378" rIns="92757" bIns="46378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829968"/>
            <a:ext cx="2971800" cy="464820"/>
          </a:xfrm>
          <a:prstGeom prst="rect">
            <a:avLst/>
          </a:prstGeom>
        </p:spPr>
        <p:txBody>
          <a:bodyPr vert="horz" lIns="92757" tIns="46378" rIns="92757" bIns="46378" rtlCol="0" anchor="b"/>
          <a:lstStyle>
            <a:lvl1pPr algn="r">
              <a:defRPr sz="1200"/>
            </a:lvl1pPr>
          </a:lstStyle>
          <a:p>
            <a:fld id="{7DB495ED-73B2-4E25-8792-00EBAAE9C9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40959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71800" cy="464820"/>
          </a:xfrm>
          <a:prstGeom prst="rect">
            <a:avLst/>
          </a:prstGeom>
        </p:spPr>
        <p:txBody>
          <a:bodyPr vert="horz" lIns="92757" tIns="46378" rIns="92757" bIns="46378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1"/>
            <a:ext cx="2971800" cy="464820"/>
          </a:xfrm>
          <a:prstGeom prst="rect">
            <a:avLst/>
          </a:prstGeom>
        </p:spPr>
        <p:txBody>
          <a:bodyPr vert="horz" lIns="92757" tIns="46378" rIns="92757" bIns="46378" rtlCol="0"/>
          <a:lstStyle>
            <a:lvl1pPr algn="r">
              <a:defRPr sz="1200"/>
            </a:lvl1pPr>
          </a:lstStyle>
          <a:p>
            <a:fld id="{4DA69CED-1F71-4610-BADF-C9E1981377BC}" type="datetimeFigureOut">
              <a:rPr lang="en-US" smtClean="0"/>
              <a:t>12/13/2018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04900" y="695325"/>
            <a:ext cx="4648200" cy="348773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757" tIns="46378" rIns="92757" bIns="46378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15791"/>
            <a:ext cx="5486400" cy="4183380"/>
          </a:xfrm>
          <a:prstGeom prst="rect">
            <a:avLst/>
          </a:prstGeom>
        </p:spPr>
        <p:txBody>
          <a:bodyPr vert="horz" lIns="92757" tIns="46378" rIns="92757" bIns="46378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8"/>
            <a:ext cx="2971800" cy="464820"/>
          </a:xfrm>
          <a:prstGeom prst="rect">
            <a:avLst/>
          </a:prstGeom>
        </p:spPr>
        <p:txBody>
          <a:bodyPr vert="horz" lIns="92757" tIns="46378" rIns="92757" bIns="46378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829968"/>
            <a:ext cx="2971800" cy="464820"/>
          </a:xfrm>
          <a:prstGeom prst="rect">
            <a:avLst/>
          </a:prstGeom>
        </p:spPr>
        <p:txBody>
          <a:bodyPr vert="horz" lIns="92757" tIns="46378" rIns="92757" bIns="46378" rtlCol="0" anchor="b"/>
          <a:lstStyle>
            <a:lvl1pPr algn="r">
              <a:defRPr sz="1200"/>
            </a:lvl1pPr>
          </a:lstStyle>
          <a:p>
            <a:fld id="{4DBAB07E-2790-45EE-88FD-FAFB7DF289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64518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BAB07E-2790-45EE-88FD-FAFB7DF2896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10781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pattFill prst="pct20">
          <a:fgClr>
            <a:schemeClr val="bg1">
              <a:lumMod val="8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3" name="Rounded Rectangle 12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7" name="Rectangle 6"/>
          <p:cNvSpPr/>
          <p:nvPr/>
        </p:nvSpPr>
        <p:spPr>
          <a:xfrm>
            <a:off x="62931" y="1449303"/>
            <a:ext cx="9021537" cy="1527349"/>
          </a:xfrm>
          <a:prstGeom prst="rect">
            <a:avLst/>
          </a:prstGeom>
          <a:solidFill>
            <a:srgbClr val="BF5700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62931" y="2976649"/>
            <a:ext cx="9021537" cy="11053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4" name="Rectangle 13"/>
          <p:cNvSpPr/>
          <p:nvPr userDrawn="1"/>
        </p:nvSpPr>
        <p:spPr>
          <a:xfrm>
            <a:off x="62931" y="1396720"/>
            <a:ext cx="9021537" cy="120580"/>
          </a:xfrm>
          <a:prstGeom prst="rect">
            <a:avLst/>
          </a:prstGeom>
          <a:solidFill>
            <a:srgbClr val="FFB171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TextBox 14"/>
          <p:cNvSpPr txBox="1"/>
          <p:nvPr userDrawn="1"/>
        </p:nvSpPr>
        <p:spPr>
          <a:xfrm>
            <a:off x="2895600" y="5214176"/>
            <a:ext cx="3352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Turbulence and Turbine Cooling</a:t>
            </a:r>
          </a:p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Research Laboratory</a:t>
            </a:r>
          </a:p>
          <a:p>
            <a:pPr algn="ct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University of Texas, Austin</a:t>
            </a:r>
          </a:p>
        </p:txBody>
      </p:sp>
      <p:pic>
        <p:nvPicPr>
          <p:cNvPr id="16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69744" y="6011373"/>
            <a:ext cx="1616075" cy="933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C73DFD-7889-495D-A176-87C867C74011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 vert="horz"/>
          <a:lstStyle>
            <a:lvl1pPr>
              <a:buClr>
                <a:srgbClr val="BF5700"/>
              </a:buClr>
              <a:defRPr/>
            </a:lvl1pPr>
          </a:lstStyle>
          <a:p>
            <a:pPr lvl="0" eaLnBrk="1" latinLnBrk="0" hangingPunct="1"/>
            <a:r>
              <a:rPr lang="en-US" dirty="0"/>
              <a:t>Click to edit Master text styles</a:t>
            </a:r>
          </a:p>
          <a:p>
            <a:pPr lvl="1" eaLnBrk="1" latinLnBrk="0" hangingPunct="1"/>
            <a:r>
              <a:rPr lang="en-US" dirty="0"/>
              <a:t>Second level</a:t>
            </a:r>
          </a:p>
          <a:p>
            <a:pPr lvl="2" eaLnBrk="1" latinLnBrk="0" hangingPunct="1"/>
            <a:r>
              <a:rPr lang="en-US" dirty="0"/>
              <a:t>Third level</a:t>
            </a:r>
          </a:p>
          <a:p>
            <a:pPr lvl="3" eaLnBrk="1" latinLnBrk="0" hangingPunct="1"/>
            <a:r>
              <a:rPr lang="en-US" dirty="0"/>
              <a:t>Fourth level</a:t>
            </a:r>
          </a:p>
          <a:p>
            <a:pPr lvl="4" eaLnBrk="1" latinLnBrk="0" hangingPunct="1"/>
            <a:r>
              <a:rPr lang="en-US" dirty="0"/>
              <a:t>Fifth level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0" name="Rounded Rectangle 9"/>
          <p:cNvSpPr/>
          <p:nvPr userDrawn="1"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Rectangle 6"/>
          <p:cNvSpPr/>
          <p:nvPr/>
        </p:nvSpPr>
        <p:spPr>
          <a:xfrm flipV="1">
            <a:off x="69412" y="2376830"/>
            <a:ext cx="9013515" cy="91440"/>
          </a:xfrm>
          <a:prstGeom prst="rect">
            <a:avLst/>
          </a:prstGeom>
          <a:solidFill>
            <a:srgbClr val="BF5700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9146" y="2341475"/>
            <a:ext cx="9013781" cy="45719"/>
          </a:xfrm>
          <a:prstGeom prst="rect">
            <a:avLst/>
          </a:prstGeom>
          <a:solidFill>
            <a:srgbClr val="CF6B28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8306" y="2468880"/>
            <a:ext cx="9014621" cy="4572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EDC73DFD-7889-495D-A176-87C867C74011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C73DFD-7889-495D-A176-87C867C74011}" type="slidenum">
              <a:rPr lang="en-US" smtClean="0"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C73DFD-7889-495D-A176-87C867C74011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 vert="horz"/>
          <a:lstStyle>
            <a:lvl1pPr>
              <a:buClr>
                <a:srgbClr val="BF5700"/>
              </a:buClr>
              <a:defRPr/>
            </a:lvl1pPr>
          </a:lstStyle>
          <a:p>
            <a:pPr lvl="0" eaLnBrk="1" latinLnBrk="0" hangingPunct="1"/>
            <a:r>
              <a:rPr lang="en-US" dirty="0"/>
              <a:t>Click to edit Master text styles</a:t>
            </a:r>
          </a:p>
          <a:p>
            <a:pPr lvl="1" eaLnBrk="1" latinLnBrk="0" hangingPunct="1"/>
            <a:r>
              <a:rPr lang="en-US" dirty="0"/>
              <a:t>Second level</a:t>
            </a:r>
          </a:p>
          <a:p>
            <a:pPr lvl="2" eaLnBrk="1" latinLnBrk="0" hangingPunct="1"/>
            <a:r>
              <a:rPr lang="en-US" dirty="0"/>
              <a:t>Third level</a:t>
            </a:r>
          </a:p>
          <a:p>
            <a:pPr lvl="3" eaLnBrk="1" latinLnBrk="0" hangingPunct="1"/>
            <a:r>
              <a:rPr lang="en-US" dirty="0"/>
              <a:t>Fourth level</a:t>
            </a:r>
          </a:p>
          <a:p>
            <a:pPr lvl="4" eaLnBrk="1" latinLnBrk="0" hangingPunct="1"/>
            <a:r>
              <a:rPr lang="en-US" dirty="0"/>
              <a:t>Fifth level</a:t>
            </a:r>
            <a:endParaRPr kumimoji="0"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6304" y="6210300"/>
            <a:ext cx="457200" cy="457200"/>
          </a:xfrm>
        </p:spPr>
        <p:txBody>
          <a:bodyPr/>
          <a:lstStyle/>
          <a:p>
            <a:fld id="{EDC73DFD-7889-495D-A176-87C867C7401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6304" y="6210300"/>
            <a:ext cx="457200" cy="457200"/>
          </a:xfrm>
        </p:spPr>
        <p:txBody>
          <a:bodyPr/>
          <a:lstStyle/>
          <a:p>
            <a:fld id="{EDC73DFD-7889-495D-A176-87C867C7401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6304" y="6210300"/>
            <a:ext cx="457200" cy="457200"/>
          </a:xfrm>
        </p:spPr>
        <p:txBody>
          <a:bodyPr/>
          <a:lstStyle/>
          <a:p>
            <a:fld id="{EDC73DFD-7889-495D-A176-87C867C7401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11" name="Rectangle 10"/>
          <p:cNvSpPr/>
          <p:nvPr/>
        </p:nvSpPr>
        <p:spPr>
          <a:xfrm flipV="1">
            <a:off x="68307" y="4683555"/>
            <a:ext cx="900684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68508" y="4650474"/>
            <a:ext cx="9006639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68510" y="4773224"/>
            <a:ext cx="9006637" cy="4880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6304" y="6210300"/>
            <a:ext cx="457200" cy="457200"/>
          </a:xfrm>
        </p:spPr>
        <p:txBody>
          <a:bodyPr/>
          <a:lstStyle/>
          <a:p>
            <a:fld id="{EDC73DFD-7889-495D-A176-87C867C7401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8" name="Rounded Rectangle 7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 dirty="0"/>
              <a:t>Click to edit Master text styles</a:t>
            </a:r>
          </a:p>
          <a:p>
            <a:pPr lvl="1" eaLnBrk="1" latinLnBrk="0" hangingPunct="1"/>
            <a:r>
              <a:rPr kumimoji="0" lang="en-US" dirty="0"/>
              <a:t>Second level</a:t>
            </a:r>
          </a:p>
          <a:p>
            <a:pPr lvl="2" eaLnBrk="1" latinLnBrk="0" hangingPunct="1"/>
            <a:r>
              <a:rPr kumimoji="0" lang="en-US" dirty="0"/>
              <a:t>Third level</a:t>
            </a:r>
          </a:p>
          <a:p>
            <a:pPr lvl="3" eaLnBrk="1" latinLnBrk="0" hangingPunct="1"/>
            <a:r>
              <a:rPr kumimoji="0" lang="en-US" dirty="0"/>
              <a:t>Fourth level</a:t>
            </a:r>
          </a:p>
          <a:p>
            <a:pPr lvl="4" eaLnBrk="1" latinLnBrk="0" hangingPunct="1"/>
            <a:r>
              <a:rPr kumimoji="0" lang="en-US" dirty="0"/>
              <a:t>Fifth level</a:t>
            </a:r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noFill/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fld id="{EDC73DFD-7889-495D-A176-87C867C74011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rgbClr val="BF5700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/>
        <a:buChar char=""/>
        <a:defRPr kumimoji="0"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/>
        <a:buChar char=""/>
        <a:defRPr kumimoji="0"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Showerhead Blade Model - CFD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C73DFD-7889-495D-A176-87C867C7401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02924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85CB4FF1-1B86-4438-A012-C0A3E79C40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Updated CFD Model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="" xmlns:a16="http://schemas.microsoft.com/office/drawing/2014/main" id="{0966E770-825E-44C5-AFCC-78CEBE5FD4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C73DFD-7889-495D-A176-87C867C74011}" type="slidenum">
              <a:rPr lang="en-US" smtClean="0"/>
              <a:t>2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88B22F0A-6121-45E8-8014-2B947A46D4ED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 vert="horz" anchor="t">
            <a:normAutofit lnSpcReduction="10000"/>
          </a:bodyPr>
          <a:lstStyle/>
          <a:p>
            <a:r>
              <a:rPr lang="en-US" dirty="0"/>
              <a:t>Hatches are modeled as a 1mm thick PLA shell around a "filler" material estimated to replicate the conductivity of 20% infill lattice with air pockets.</a:t>
            </a:r>
          </a:p>
          <a:p>
            <a:pPr lvl="1"/>
            <a:r>
              <a:rPr lang="en-US" sz="2000" dirty="0"/>
              <a:t>PLA Conductivity = 0.14 W/m*K</a:t>
            </a:r>
          </a:p>
          <a:p>
            <a:pPr lvl="1"/>
            <a:r>
              <a:rPr lang="en-US" sz="2000" dirty="0"/>
              <a:t>Filler Conductivity = 0.046 W/m*K (20% PLA, 80% Air)</a:t>
            </a:r>
          </a:p>
          <a:p>
            <a:endParaRPr lang="en-US" dirty="0"/>
          </a:p>
          <a:p>
            <a:r>
              <a:rPr lang="en-US" dirty="0"/>
              <a:t>The bulk of the blade is R-3315 Polyurethane</a:t>
            </a:r>
          </a:p>
          <a:p>
            <a:pPr lvl="1"/>
            <a:r>
              <a:rPr lang="en-US" sz="2000" dirty="0"/>
              <a:t>Polyurethane Conductivity = 0.044 W/m*K</a:t>
            </a:r>
          </a:p>
          <a:p>
            <a:endParaRPr lang="en-US" sz="2200" dirty="0"/>
          </a:p>
          <a:p>
            <a:r>
              <a:rPr lang="en-US" sz="2400" dirty="0"/>
              <a:t>Components are bound together by interfaces instead of periodicity to allow for adaptive mesh refinement (can cause discontinuities along boundaries)</a:t>
            </a:r>
          </a:p>
        </p:txBody>
      </p:sp>
    </p:spTree>
    <p:extLst>
      <p:ext uri="{BB962C8B-B14F-4D97-AF65-F5344CB8AC3E}">
        <p14:creationId xmlns:p14="http://schemas.microsoft.com/office/powerpoint/2010/main" val="14707183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5373" y="274638"/>
            <a:ext cx="4585219" cy="1776584"/>
          </a:xfrm>
        </p:spPr>
        <p:txBody>
          <a:bodyPr>
            <a:normAutofit fontScale="90000"/>
          </a:bodyPr>
          <a:lstStyle/>
          <a:p>
            <a:r>
              <a:rPr lang="en-US" dirty="0"/>
              <a:t>Eta Contours</a:t>
            </a:r>
            <a:br>
              <a:rPr lang="en-US" dirty="0"/>
            </a:br>
            <a:r>
              <a:rPr lang="en-US" dirty="0"/>
              <a:t>Similar Locations, about as expected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C73DFD-7889-495D-A176-87C867C74011}" type="slidenum">
              <a:rPr lang="en-US" smtClean="0"/>
              <a:t>3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496" t="33123" r="24923" b="34168"/>
          <a:stretch/>
        </p:blipFill>
        <p:spPr>
          <a:xfrm>
            <a:off x="4840592" y="159795"/>
            <a:ext cx="3916468" cy="2340630"/>
          </a:xfrm>
          <a:prstGeom prst="rect">
            <a:avLst/>
          </a:prstGeom>
        </p:spPr>
      </p:pic>
      <p:pic>
        <p:nvPicPr>
          <p:cNvPr id="5" name="Content Placeholder 4"/>
          <p:cNvPicPr>
            <a:picLocks noGrp="1" noChangeAspect="1"/>
          </p:cNvPicPr>
          <p:nvPr>
            <p:ph sz="quarter" idx="1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19" t="7613" r="14724" b="19955"/>
          <a:stretch/>
        </p:blipFill>
        <p:spPr>
          <a:xfrm>
            <a:off x="4840592" y="2791080"/>
            <a:ext cx="3894772" cy="2321256"/>
          </a:xfr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973" t="81387" r="31171" b="4487"/>
          <a:stretch/>
        </p:blipFill>
        <p:spPr>
          <a:xfrm>
            <a:off x="5148649" y="5402991"/>
            <a:ext cx="3278659" cy="80730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 rot="16200000">
            <a:off x="3914521" y="1057549"/>
            <a:ext cx="14828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Experiment</a:t>
            </a:r>
          </a:p>
        </p:txBody>
      </p:sp>
      <p:sp>
        <p:nvSpPr>
          <p:cNvPr id="10" name="TextBox 9"/>
          <p:cNvSpPr txBox="1"/>
          <p:nvPr/>
        </p:nvSpPr>
        <p:spPr>
          <a:xfrm rot="16200000">
            <a:off x="3914520" y="3653891"/>
            <a:ext cx="14828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CFD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4" y="2273643"/>
            <a:ext cx="3966437" cy="369331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shape of the contours is similar but RANS always predicts jet mixing poorly so the jets stay coherent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Contour levels are at least within the ball park.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I've been investigating ways to improve the simulation</a:t>
            </a:r>
            <a:r>
              <a:rPr lang="en-US" dirty="0">
                <a:cs typeface="Arial"/>
              </a:rPr>
              <a:t> by adjusting the infill conductivity but a bulk of the error is poor turbulent diffusion modeling in RANS</a:t>
            </a:r>
          </a:p>
        </p:txBody>
      </p:sp>
    </p:spTree>
    <p:extLst>
      <p:ext uri="{BB962C8B-B14F-4D97-AF65-F5344CB8AC3E}">
        <p14:creationId xmlns:p14="http://schemas.microsoft.com/office/powerpoint/2010/main" val="35772947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4638"/>
            <a:ext cx="4010526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Comparison to Thermal fields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C73DFD-7889-495D-A176-87C867C74011}" type="slidenum">
              <a:rPr lang="en-US" smtClean="0"/>
              <a:t>4</a:t>
            </a:fld>
            <a:endParaRPr lang="en-US"/>
          </a:p>
        </p:txBody>
      </p:sp>
      <p:pic>
        <p:nvPicPr>
          <p:cNvPr id="5" name="Content Placeholder 4" descr="A close up of a logo&#10;&#10;Description automatically generated">
            <a:extLst>
              <a:ext uri="{FF2B5EF4-FFF2-40B4-BE49-F238E27FC236}">
                <a16:creationId xmlns="" xmlns:a16="http://schemas.microsoft.com/office/drawing/2014/main" id="{8A342115-2ACF-43E7-B396-1F6B62E5FB7E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81" t="19117" r="12254" b="18951"/>
          <a:stretch/>
        </p:blipFill>
        <p:spPr>
          <a:xfrm>
            <a:off x="3974615" y="288350"/>
            <a:ext cx="4704164" cy="225857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3"/>
          <a:srcRect t="21334" r="19010"/>
          <a:stretch/>
        </p:blipFill>
        <p:spPr>
          <a:xfrm flipH="1">
            <a:off x="4033838" y="2622883"/>
            <a:ext cx="4821405" cy="301217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973" t="81387" r="31171" b="4487"/>
          <a:stretch/>
        </p:blipFill>
        <p:spPr>
          <a:xfrm>
            <a:off x="5140628" y="5711016"/>
            <a:ext cx="3278659" cy="80730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03504" y="1867877"/>
            <a:ext cx="3296373" cy="424731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Similar to flat plate CFD we seem to do a good job of predicting the shape of the coolant exiting the hole.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Bear in mind that in my CFD the coolant is generated from the PVC pseudo-plenum and still behaving uniformly at the exit.</a:t>
            </a:r>
            <a:endParaRPr lang="en-US" dirty="0">
              <a:cs typeface="Arial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Soon we’ll be laying this data on the same grid for a better comparison</a:t>
            </a:r>
          </a:p>
        </p:txBody>
      </p:sp>
    </p:spTree>
    <p:extLst>
      <p:ext uri="{BB962C8B-B14F-4D97-AF65-F5344CB8AC3E}">
        <p14:creationId xmlns:p14="http://schemas.microsoft.com/office/powerpoint/2010/main" val="42517680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6239" y="269939"/>
            <a:ext cx="7772400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Estimation of the magnitude of the conduction correction for PLA &amp; Filler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C73DFD-7889-495D-A176-87C867C74011}" type="slidenum">
              <a:rPr lang="en-US" smtClean="0"/>
              <a:t>5</a:t>
            </a:fld>
            <a:endParaRPr lang="en-US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quarter" idx="1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58" t="7433" r="11797" b="4099"/>
          <a:stretch/>
        </p:blipFill>
        <p:spPr>
          <a:xfrm>
            <a:off x="1430665" y="1417638"/>
            <a:ext cx="6190812" cy="4146916"/>
          </a:xfrm>
        </p:spPr>
      </p:pic>
      <p:sp>
        <p:nvSpPr>
          <p:cNvPr id="6" name="TextBox 5"/>
          <p:cNvSpPr txBox="1"/>
          <p:nvPr/>
        </p:nvSpPr>
        <p:spPr>
          <a:xfrm>
            <a:off x="1274871" y="5564554"/>
            <a:ext cx="6502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conduction correction remains small (2~8%) except on the side rows where there is no overflowing coolant to reduce the effects of bore cooling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53846" y="1694637"/>
            <a:ext cx="87532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2~5%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65974" y="3043349"/>
            <a:ext cx="1066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+/-1.5%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89723" y="5026225"/>
            <a:ext cx="8596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&lt;30%</a:t>
            </a:r>
          </a:p>
        </p:txBody>
      </p:sp>
      <p:cxnSp>
        <p:nvCxnSpPr>
          <p:cNvPr id="12" name="Straight Connector 11"/>
          <p:cNvCxnSpPr/>
          <p:nvPr/>
        </p:nvCxnSpPr>
        <p:spPr>
          <a:xfrm flipV="1">
            <a:off x="2219569" y="4204677"/>
            <a:ext cx="1484923" cy="77510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flipV="1">
            <a:off x="2219569" y="3111861"/>
            <a:ext cx="1484923" cy="186791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Flowchart: Summing Junction 3"/>
          <p:cNvSpPr/>
          <p:nvPr/>
        </p:nvSpPr>
        <p:spPr>
          <a:xfrm>
            <a:off x="4199041" y="3058491"/>
            <a:ext cx="179754" cy="179754"/>
          </a:xfrm>
          <a:prstGeom prst="flowChartSummingJunction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Arrow Connector 14"/>
          <p:cNvCxnSpPr/>
          <p:nvPr/>
        </p:nvCxnSpPr>
        <p:spPr>
          <a:xfrm>
            <a:off x="2219569" y="2587190"/>
            <a:ext cx="1979472" cy="51997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289619" y="2125525"/>
            <a:ext cx="22820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Wall Normal Temperature Plot (On Next Slide)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79390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dirty="0" smtClean="0"/>
              <a:t>Wall Normal Temperature shows </a:t>
            </a:r>
            <a:r>
              <a:rPr lang="en-US" sz="2800" dirty="0" err="1" smtClean="0"/>
              <a:t>thermalfields</a:t>
            </a:r>
            <a:r>
              <a:rPr lang="en-US" sz="2800" dirty="0" smtClean="0"/>
              <a:t> alone are not sufficient to account for conduction</a:t>
            </a:r>
            <a:endParaRPr lang="en-US" sz="28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C73DFD-7889-495D-A176-87C867C74011}" type="slidenum">
              <a:rPr lang="en-US" smtClean="0"/>
              <a:t>6</a:t>
            </a:fld>
            <a:endParaRPr lang="en-US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sz="quarter" idx="1"/>
          </p:nvPr>
        </p:nvPicPr>
        <p:blipFill>
          <a:blip r:embed="rId3"/>
          <a:stretch>
            <a:fillRect/>
          </a:stretch>
        </p:blipFill>
        <p:spPr>
          <a:xfrm>
            <a:off x="994492" y="1447800"/>
            <a:ext cx="7612216" cy="4572000"/>
          </a:xfrm>
          <a:prstGeom prst="rect">
            <a:avLst/>
          </a:prstGeom>
        </p:spPr>
      </p:pic>
      <p:cxnSp>
        <p:nvCxnSpPr>
          <p:cNvPr id="8" name="Straight Arrow Connector 7"/>
          <p:cNvCxnSpPr>
            <a:stCxn id="17" idx="1"/>
          </p:cNvCxnSpPr>
          <p:nvPr/>
        </p:nvCxnSpPr>
        <p:spPr>
          <a:xfrm flipH="1">
            <a:off x="4415693" y="3568728"/>
            <a:ext cx="382952" cy="47964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>
            <a:stCxn id="19" idx="2"/>
          </p:cNvCxnSpPr>
          <p:nvPr/>
        </p:nvCxnSpPr>
        <p:spPr>
          <a:xfrm>
            <a:off x="2566369" y="3847178"/>
            <a:ext cx="1329600" cy="18946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15" idx="0"/>
          </p:cNvCxnSpPr>
          <p:nvPr/>
        </p:nvCxnSpPr>
        <p:spPr>
          <a:xfrm flipV="1">
            <a:off x="3755293" y="4126523"/>
            <a:ext cx="511907" cy="39858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2375877" y="4525108"/>
            <a:ext cx="27588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+mj-lt"/>
              </a:rPr>
              <a:t>Adiabatic Wall </a:t>
            </a:r>
            <a:r>
              <a:rPr lang="el-GR" dirty="0" smtClean="0">
                <a:latin typeface="+mj-lt"/>
              </a:rPr>
              <a:t>θ</a:t>
            </a:r>
            <a:r>
              <a:rPr lang="en-US" dirty="0" smtClean="0">
                <a:latin typeface="+mj-lt"/>
              </a:rPr>
              <a:t> = 0.365</a:t>
            </a:r>
            <a:endParaRPr lang="en-US" dirty="0">
              <a:latin typeface="+mj-lt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798645" y="3384062"/>
            <a:ext cx="30870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  <a:latin typeface="+mj-lt"/>
              </a:rPr>
              <a:t>Conducting Wall </a:t>
            </a:r>
            <a:r>
              <a:rPr lang="el-GR" dirty="0" smtClean="0">
                <a:solidFill>
                  <a:srgbClr val="FF0000"/>
                </a:solidFill>
                <a:latin typeface="+mj-lt"/>
              </a:rPr>
              <a:t>θ</a:t>
            </a:r>
            <a:r>
              <a:rPr lang="en-US" dirty="0" smtClean="0">
                <a:solidFill>
                  <a:srgbClr val="FF0000"/>
                </a:solidFill>
                <a:latin typeface="+mj-lt"/>
              </a:rPr>
              <a:t> = 0.383</a:t>
            </a:r>
            <a:endParaRPr lang="en-US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438031" y="3477846"/>
            <a:ext cx="22566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dirty="0" smtClean="0">
                <a:solidFill>
                  <a:srgbClr val="FF0000"/>
                </a:solidFill>
                <a:latin typeface="+mj-lt"/>
              </a:rPr>
              <a:t>θ</a:t>
            </a:r>
            <a:r>
              <a:rPr lang="en-US" dirty="0" smtClean="0">
                <a:solidFill>
                  <a:srgbClr val="FF0000"/>
                </a:solidFill>
                <a:latin typeface="+mj-lt"/>
              </a:rPr>
              <a:t> at 223 </a:t>
            </a:r>
            <a:r>
              <a:rPr lang="el-GR" dirty="0" smtClean="0">
                <a:solidFill>
                  <a:srgbClr val="FF0000"/>
                </a:solidFill>
                <a:latin typeface="+mj-lt"/>
              </a:rPr>
              <a:t>μ</a:t>
            </a:r>
            <a:r>
              <a:rPr lang="en-US" dirty="0" smtClean="0">
                <a:solidFill>
                  <a:srgbClr val="FF0000"/>
                </a:solidFill>
                <a:latin typeface="+mj-lt"/>
              </a:rPr>
              <a:t>m = 0.314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784" y="6023123"/>
            <a:ext cx="80010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The large gradients of velocity and temperature in the viscous sublayer could cause significant differences between the </a:t>
            </a:r>
            <a:r>
              <a:rPr lang="en-US" dirty="0" err="1" smtClean="0"/>
              <a:t>thermalfield</a:t>
            </a:r>
            <a:r>
              <a:rPr lang="en-US" dirty="0" smtClean="0"/>
              <a:t> and IR measurements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70570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Conclusions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C73DFD-7889-495D-A176-87C867C74011}" type="slidenum">
              <a:rPr lang="en-US" smtClean="0"/>
              <a:t>7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The conduction correction is minimal for much of the blades surface and small for a bulk of the shower head (2~5%)</a:t>
            </a:r>
          </a:p>
          <a:p>
            <a:endParaRPr lang="en-US" dirty="0"/>
          </a:p>
          <a:p>
            <a:r>
              <a:rPr lang="en-US" dirty="0" smtClean="0"/>
              <a:t>It seems unlikely that </a:t>
            </a:r>
            <a:r>
              <a:rPr lang="en-US" dirty="0" err="1" smtClean="0"/>
              <a:t>thermalfields</a:t>
            </a:r>
            <a:r>
              <a:rPr lang="en-US" dirty="0" smtClean="0"/>
              <a:t> would negate the need for a conduction correction, especially in areas of large bore cooling</a:t>
            </a:r>
          </a:p>
          <a:p>
            <a:endParaRPr lang="en-US" dirty="0"/>
          </a:p>
          <a:p>
            <a:r>
              <a:rPr lang="en-US" dirty="0" smtClean="0"/>
              <a:t>The combination of CFD, IR, and </a:t>
            </a:r>
            <a:r>
              <a:rPr lang="en-US" dirty="0" err="1" smtClean="0"/>
              <a:t>Thermalfields</a:t>
            </a:r>
            <a:r>
              <a:rPr lang="en-US" dirty="0" smtClean="0"/>
              <a:t> is promising for delivering good insights </a:t>
            </a:r>
            <a:r>
              <a:rPr lang="en-US" smtClean="0"/>
              <a:t>into showerhead film cooling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669136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quity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2">
      <a:majorFont>
        <a:latin typeface="Franklin Gothic Book"/>
        <a:ea typeface=""/>
        <a:cs typeface=""/>
      </a:majorFont>
      <a:minorFont>
        <a:latin typeface="Arial"/>
        <a:ea typeface=""/>
        <a:cs typeface=""/>
      </a:minorFont>
    </a:fontScheme>
    <a:fmtScheme name="Equity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41004</TotalTime>
  <Words>392</Words>
  <Application>Microsoft Office PowerPoint</Application>
  <PresentationFormat>On-screen Show (4:3)</PresentationFormat>
  <Paragraphs>49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Franklin Gothic Book</vt:lpstr>
      <vt:lpstr>Wingdings 2</vt:lpstr>
      <vt:lpstr>Equity</vt:lpstr>
      <vt:lpstr>Showerhead Blade Model - CFD</vt:lpstr>
      <vt:lpstr>Updated CFD Model</vt:lpstr>
      <vt:lpstr>Eta Contours Similar Locations, about as expected</vt:lpstr>
      <vt:lpstr>Comparison to Thermal fields</vt:lpstr>
      <vt:lpstr>Estimation of the magnitude of the conduction correction for PLA &amp; Filler</vt:lpstr>
      <vt:lpstr>Wall Normal Temperature shows thermalfields alone are not sufficient to account for conduction</vt:lpstr>
      <vt:lpstr>Conclusions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James</dc:creator>
  <cp:lastModifiedBy>Fraser</cp:lastModifiedBy>
  <cp:revision>2857</cp:revision>
  <cp:lastPrinted>2018-05-18T18:53:08Z</cp:lastPrinted>
  <dcterms:created xsi:type="dcterms:W3CDTF">2013-08-22T14:26:45Z</dcterms:created>
  <dcterms:modified xsi:type="dcterms:W3CDTF">2018-12-13T22:03:21Z</dcterms:modified>
</cp:coreProperties>
</file>